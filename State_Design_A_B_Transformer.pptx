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F6A90-0ADF-4456-AF99-0BD97E9FE4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41EE50-80A8-4B33-B0A0-9B53A4A003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6EBC0-0BC8-474E-A079-C52682B432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4C56C9-A63D-40E5-A322-17AF516C73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5AB3E6-E2A0-4AC4-8F26-89B4281025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A0702-892A-4082-AEEC-B2552719C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EFF31-3E7F-4830-9531-62D1B9FE3F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D51C57-5286-46B2-B8F4-24A7D6B08D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03B00-23F1-4405-A1D1-8D6D1EBEC0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BB6E7-ED32-48F2-B3DB-7AC1E2377B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314E92-80AC-4901-BC83-C48ACC21C4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5BA50C-F6B1-4E6D-A23F-4F9FB0A483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E2D5B6-1F47-4BA6-BA41-7C70C7373C1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73116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148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STATE structure  (A / B / Transformer)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" name="Rounded Rectangle 2"/>
          <p:cNvSpPr/>
          <p:nvPr/>
        </p:nvSpPr>
        <p:spPr>
          <a:xfrm>
            <a:off x="457200" y="822960"/>
            <a:ext cx="11274120" cy="164556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875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54720" bIns="4500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300" spc="-1" strike="noStrike">
                <a:solidFill>
                  <a:srgbClr val="1f3a5f"/>
                </a:solidFill>
                <a:latin typeface="Calibri"/>
              </a:rPr>
              <a:t>Common skeleton (all three designs):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1f3a5f"/>
                </a:solidFill>
                <a:latin typeface="Courier New"/>
              </a:rPr>
              <a:t>state = [ bnf_present , slot_1 , slot_2 , … ]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2e7d32"/>
                </a:solidFill>
                <a:latin typeface="Courier New"/>
              </a:rPr>
              <a:t>bnf_present = which priority levels exist      e.g. {1,3,4} → [1,0,1,1,0]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slot = [ sig , P1, P2, P3, P4, P5 ]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sig = [ is_green , sec_since_green ]        P_k = [ count , queue_length ]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" name="Rounded Rectangle 3"/>
          <p:cNvSpPr/>
          <p:nvPr/>
        </p:nvSpPr>
        <p:spPr>
          <a:xfrm>
            <a:off x="457200" y="2560320"/>
            <a:ext cx="361152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75b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90000" tIns="14616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2e75b6"/>
                </a:solidFill>
                <a:latin typeface="Calibri"/>
              </a:rPr>
              <a:t>A · Phase-level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300" spc="-1" strike="noStrike">
                <a:solidFill>
                  <a:srgbClr val="2e75b6"/>
                </a:solidFill>
                <a:latin typeface="Calibri"/>
              </a:rPr>
              <a:t>organized by PHASE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state = [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e7d32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2e7d32"/>
                </a:solidFill>
                <a:latin typeface="Courier New"/>
              </a:rPr>
              <a:t>bnf_present,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phase_1 … phase_8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6a6a6a"/>
                </a:solidFill>
                <a:latin typeface="Courier New"/>
              </a:rPr>
              <a:t>phase = [ sig, P1..P5 ]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200" spc="-1" strike="noStrike">
                <a:solidFill>
                  <a:srgbClr val="2e75b6"/>
                </a:solidFill>
                <a:latin typeface="Calibri"/>
              </a:rPr>
              <a:t>→ </a:t>
            </a:r>
            <a:r>
              <a:rPr b="1" lang="en-US" sz="1200" spc="-1" strike="noStrike">
                <a:solidFill>
                  <a:srgbClr val="2e75b6"/>
                </a:solidFill>
                <a:latin typeface="Calibri"/>
              </a:rPr>
              <a:t>8 slots, aligned w/ action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" name="Rounded Rectangle 4"/>
          <p:cNvSpPr/>
          <p:nvPr/>
        </p:nvSpPr>
        <p:spPr>
          <a:xfrm>
            <a:off x="4288680" y="2560320"/>
            <a:ext cx="361152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06a1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90000" tIns="14616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700" spc="-1" strike="noStrike">
                <a:solidFill>
                  <a:srgbClr val="c06a1b"/>
                </a:solidFill>
                <a:latin typeface="Calibri"/>
              </a:rPr>
              <a:t>B · 12-level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1" lang="en-US" sz="1300" spc="-1" strike="noStrike">
                <a:solidFill>
                  <a:srgbClr val="c06a1b"/>
                </a:solidFill>
                <a:latin typeface="Calibri"/>
              </a:rPr>
              <a:t>organized by MOVEMENT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1200" spc="-1" strike="noStrike">
                <a:solidFill>
                  <a:srgbClr val="6a6a6a"/>
                </a:solidFill>
                <a:latin typeface="Calibri"/>
              </a:rPr>
              <a:t>(N/E/S/W × L/T/R)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state = [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e7d32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2e7d32"/>
                </a:solidFill>
                <a:latin typeface="Courier New"/>
              </a:rPr>
              <a:t>bnf_present,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mov_1 … mov_12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222222"/>
                </a:solidFill>
                <a:latin typeface="Courier New"/>
              </a:rPr>
              <a:t>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6a6a6a"/>
                </a:solidFill>
                <a:latin typeface="Courier New"/>
              </a:rPr>
              <a:t>slot = [ sig, P1..P5 ]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200" spc="-1" strike="noStrike">
                <a:solidFill>
                  <a:srgbClr val="c06a1b"/>
                </a:solidFill>
                <a:latin typeface="Calibri"/>
              </a:rPr>
              <a:t>→ </a:t>
            </a:r>
            <a:r>
              <a:rPr b="1" lang="en-US" sz="1200" spc="-1" strike="noStrike">
                <a:solidFill>
                  <a:srgbClr val="c06a1b"/>
                </a:solidFill>
                <a:latin typeface="Calibri"/>
              </a:rPr>
              <a:t>12 fixed slots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" name="Rounded Rectangle 5"/>
          <p:cNvSpPr/>
          <p:nvPr/>
        </p:nvSpPr>
        <p:spPr>
          <a:xfrm>
            <a:off x="8119800" y="2560320"/>
            <a:ext cx="361152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a3d9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90000" tIns="14616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6a3d9a"/>
                </a:solidFill>
                <a:latin typeface="Calibri"/>
              </a:rPr>
              <a:t>Transformer · Lane-token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200" spc="-1" strike="noStrike">
                <a:solidFill>
                  <a:srgbClr val="6a3d9a"/>
                </a:solidFill>
                <a:latin typeface="Calibri"/>
              </a:rPr>
              <a:t>organized by LANE (variable N)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</a:rPr>
              <a:t>state = [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00" spc="-1" strike="noStrike">
                <a:solidFill>
                  <a:srgbClr val="2e7d32"/>
                </a:solidFill>
                <a:latin typeface="Courier New"/>
              </a:rPr>
              <a:t>  </a:t>
            </a:r>
            <a:r>
              <a:rPr b="0" lang="en-US" sz="1200" spc="-1" strike="noStrike">
                <a:solidFill>
                  <a:srgbClr val="2e7d32"/>
                </a:solidFill>
                <a:latin typeface="Courier New"/>
              </a:rPr>
              <a:t>bnf_present, [CLS],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</a:rPr>
              <a:t>lane_1 … lane_N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</a:rPr>
              <a:t>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6a6a6a"/>
                </a:solidFill>
                <a:latin typeface="Courier New"/>
              </a:rPr>
              <a:t>lane = [ sig, P1..P5 ]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200" spc="-1" strike="noStrike">
                <a:solidFill>
                  <a:srgbClr val="222222"/>
                </a:solidFill>
                <a:latin typeface="Calibri"/>
              </a:rPr>
              <a:t>self-attn → [CLS] = summary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200" spc="-1" strike="noStrike">
                <a:solidFill>
                  <a:srgbClr val="6a3d9a"/>
                </a:solidFill>
                <a:latin typeface="Calibri"/>
              </a:rPr>
              <a:t>→ </a:t>
            </a:r>
            <a:r>
              <a:rPr b="1" lang="en-US" sz="1200" spc="-1" strike="noStrike">
                <a:solidFill>
                  <a:srgbClr val="6a3d9a"/>
                </a:solidFill>
                <a:latin typeface="Calibri"/>
              </a:rPr>
              <a:t>head → 8 scores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457200" y="6035040"/>
            <a:ext cx="11274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6a6a6a"/>
                </a:solidFill>
                <a:latin typeface="Calibri"/>
              </a:rPr>
              <a:t>ACTION (all): unified 8 phase templates + mask    ·    mask = keep the fixed slot but disable it (Q = −∞ / 0) when a phase or priority level is absent here.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2026-05-28T09:17:25Z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